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ECBFAE-2E7C-4318-B77F-CDDC4CAAD571}" v="6" dt="2026-01-31T07:59:21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hama Y. Mekonnen" userId="f55263af839ded1e" providerId="LiveId" clId="{5A8E9F9C-59A7-4A83-9D39-F3F10297DD2D}"/>
    <pc:docChg chg="undo redo custSel addSld modSld">
      <pc:chgData name="Ruhama Y. Mekonnen" userId="f55263af839ded1e" providerId="LiveId" clId="{5A8E9F9C-59A7-4A83-9D39-F3F10297DD2D}" dt="2026-01-31T08:13:08.019" v="161" actId="20577"/>
      <pc:docMkLst>
        <pc:docMk/>
      </pc:docMkLst>
      <pc:sldChg chg="delSp modSp mod">
        <pc:chgData name="Ruhama Y. Mekonnen" userId="f55263af839ded1e" providerId="LiveId" clId="{5A8E9F9C-59A7-4A83-9D39-F3F10297DD2D}" dt="2026-01-31T07:22:30.522" v="14" actId="21"/>
        <pc:sldMkLst>
          <pc:docMk/>
          <pc:sldMk cId="0" sldId="256"/>
        </pc:sldMkLst>
        <pc:spChg chg="mod">
          <ac:chgData name="Ruhama Y. Mekonnen" userId="f55263af839ded1e" providerId="LiveId" clId="{5A8E9F9C-59A7-4A83-9D39-F3F10297DD2D}" dt="2026-01-31T07:22:21.978" v="4" actId="27636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Ruhama Y. Mekonnen" userId="f55263af839ded1e" providerId="LiveId" clId="{5A8E9F9C-59A7-4A83-9D39-F3F10297DD2D}" dt="2026-01-31T07:22:30.522" v="14" actId="21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Ruhama Y. Mekonnen" userId="f55263af839ded1e" providerId="LiveId" clId="{5A8E9F9C-59A7-4A83-9D39-F3F10297DD2D}" dt="2026-01-31T07:23:09.582" v="33" actId="20577"/>
        <pc:sldMkLst>
          <pc:docMk/>
          <pc:sldMk cId="0" sldId="257"/>
        </pc:sldMkLst>
        <pc:spChg chg="mod">
          <ac:chgData name="Ruhama Y. Mekonnen" userId="f55263af839ded1e" providerId="LiveId" clId="{5A8E9F9C-59A7-4A83-9D39-F3F10297DD2D}" dt="2026-01-31T07:23:09.582" v="33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Ruhama Y. Mekonnen" userId="f55263af839ded1e" providerId="LiveId" clId="{5A8E9F9C-59A7-4A83-9D39-F3F10297DD2D}" dt="2026-01-31T07:25:29.049" v="38" actId="20577"/>
        <pc:sldMkLst>
          <pc:docMk/>
          <pc:sldMk cId="0" sldId="258"/>
        </pc:sldMkLst>
        <pc:spChg chg="mod">
          <ac:chgData name="Ruhama Y. Mekonnen" userId="f55263af839ded1e" providerId="LiveId" clId="{5A8E9F9C-59A7-4A83-9D39-F3F10297DD2D}" dt="2026-01-31T07:23:27.302" v="35" actId="276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Ruhama Y. Mekonnen" userId="f55263af839ded1e" providerId="LiveId" clId="{5A8E9F9C-59A7-4A83-9D39-F3F10297DD2D}" dt="2026-01-31T07:25:29.049" v="38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Ruhama Y. Mekonnen" userId="f55263af839ded1e" providerId="LiveId" clId="{5A8E9F9C-59A7-4A83-9D39-F3F10297DD2D}" dt="2026-01-31T07:29:38.906" v="45" actId="20577"/>
        <pc:sldMkLst>
          <pc:docMk/>
          <pc:sldMk cId="0" sldId="259"/>
        </pc:sldMkLst>
        <pc:spChg chg="mod">
          <ac:chgData name="Ruhama Y. Mekonnen" userId="f55263af839ded1e" providerId="LiveId" clId="{5A8E9F9C-59A7-4A83-9D39-F3F10297DD2D}" dt="2026-01-31T07:29:38.906" v="45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Ruhama Y. Mekonnen" userId="f55263af839ded1e" providerId="LiveId" clId="{5A8E9F9C-59A7-4A83-9D39-F3F10297DD2D}" dt="2026-01-31T07:26:33.314" v="44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Ruhama Y. Mekonnen" userId="f55263af839ded1e" providerId="LiveId" clId="{5A8E9F9C-59A7-4A83-9D39-F3F10297DD2D}" dt="2026-01-31T07:29:44.802" v="46" actId="20577"/>
        <pc:sldMkLst>
          <pc:docMk/>
          <pc:sldMk cId="0" sldId="260"/>
        </pc:sldMkLst>
        <pc:spChg chg="mod">
          <ac:chgData name="Ruhama Y. Mekonnen" userId="f55263af839ded1e" providerId="LiveId" clId="{5A8E9F9C-59A7-4A83-9D39-F3F10297DD2D}" dt="2026-01-31T07:29:44.802" v="46" actId="20577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Ruhama Y. Mekonnen" userId="f55263af839ded1e" providerId="LiveId" clId="{5A8E9F9C-59A7-4A83-9D39-F3F10297DD2D}" dt="2026-01-31T07:29:48.398" v="47" actId="20577"/>
        <pc:sldMkLst>
          <pc:docMk/>
          <pc:sldMk cId="0" sldId="261"/>
        </pc:sldMkLst>
        <pc:spChg chg="mod">
          <ac:chgData name="Ruhama Y. Mekonnen" userId="f55263af839ded1e" providerId="LiveId" clId="{5A8E9F9C-59A7-4A83-9D39-F3F10297DD2D}" dt="2026-01-31T07:29:48.398" v="47" actId="20577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Ruhama Y. Mekonnen" userId="f55263af839ded1e" providerId="LiveId" clId="{5A8E9F9C-59A7-4A83-9D39-F3F10297DD2D}" dt="2026-01-31T07:48:56.856" v="100" actId="20577"/>
        <pc:sldMkLst>
          <pc:docMk/>
          <pc:sldMk cId="0" sldId="262"/>
        </pc:sldMkLst>
        <pc:spChg chg="mod">
          <ac:chgData name="Ruhama Y. Mekonnen" userId="f55263af839ded1e" providerId="LiveId" clId="{5A8E9F9C-59A7-4A83-9D39-F3F10297DD2D}" dt="2026-01-31T07:22:22.014" v="6" actId="276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Ruhama Y. Mekonnen" userId="f55263af839ded1e" providerId="LiveId" clId="{5A8E9F9C-59A7-4A83-9D39-F3F10297DD2D}" dt="2026-01-31T07:48:56.856" v="100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Ruhama Y. Mekonnen" userId="f55263af839ded1e" providerId="LiveId" clId="{5A8E9F9C-59A7-4A83-9D39-F3F10297DD2D}" dt="2026-01-31T07:51:28.195" v="123" actId="6549"/>
        <pc:sldMkLst>
          <pc:docMk/>
          <pc:sldMk cId="0" sldId="263"/>
        </pc:sldMkLst>
        <pc:spChg chg="mod">
          <ac:chgData name="Ruhama Y. Mekonnen" userId="f55263af839ded1e" providerId="LiveId" clId="{5A8E9F9C-59A7-4A83-9D39-F3F10297DD2D}" dt="2026-01-31T07:22:22.017" v="7" actId="27636"/>
          <ac:spMkLst>
            <pc:docMk/>
            <pc:sldMk cId="0" sldId="263"/>
            <ac:spMk id="2" creationId="{00000000-0000-0000-0000-000000000000}"/>
          </ac:spMkLst>
        </pc:spChg>
        <pc:spChg chg="mod">
          <ac:chgData name="Ruhama Y. Mekonnen" userId="f55263af839ded1e" providerId="LiveId" clId="{5A8E9F9C-59A7-4A83-9D39-F3F10297DD2D}" dt="2026-01-31T07:51:28.195" v="123" actId="6549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Ruhama Y. Mekonnen" userId="f55263af839ded1e" providerId="LiveId" clId="{5A8E9F9C-59A7-4A83-9D39-F3F10297DD2D}" dt="2026-01-31T07:54:45.177" v="134" actId="20577"/>
        <pc:sldMkLst>
          <pc:docMk/>
          <pc:sldMk cId="0" sldId="264"/>
        </pc:sldMkLst>
        <pc:spChg chg="mod">
          <ac:chgData name="Ruhama Y. Mekonnen" userId="f55263af839ded1e" providerId="LiveId" clId="{5A8E9F9C-59A7-4A83-9D39-F3F10297DD2D}" dt="2026-01-31T07:53:53.815" v="126" actId="27636"/>
          <ac:spMkLst>
            <pc:docMk/>
            <pc:sldMk cId="0" sldId="264"/>
            <ac:spMk id="2" creationId="{00000000-0000-0000-0000-000000000000}"/>
          </ac:spMkLst>
        </pc:spChg>
        <pc:spChg chg="mod">
          <ac:chgData name="Ruhama Y. Mekonnen" userId="f55263af839ded1e" providerId="LiveId" clId="{5A8E9F9C-59A7-4A83-9D39-F3F10297DD2D}" dt="2026-01-31T07:54:45.177" v="134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Ruhama Y. Mekonnen" userId="f55263af839ded1e" providerId="LiveId" clId="{5A8E9F9C-59A7-4A83-9D39-F3F10297DD2D}" dt="2026-01-31T08:13:08.019" v="161" actId="20577"/>
        <pc:sldMkLst>
          <pc:docMk/>
          <pc:sldMk cId="0" sldId="265"/>
        </pc:sldMkLst>
        <pc:spChg chg="mod">
          <ac:chgData name="Ruhama Y. Mekonnen" userId="f55263af839ded1e" providerId="LiveId" clId="{5A8E9F9C-59A7-4A83-9D39-F3F10297DD2D}" dt="2026-01-31T08:13:08.019" v="161" actId="20577"/>
          <ac:spMkLst>
            <pc:docMk/>
            <pc:sldMk cId="0" sldId="265"/>
            <ac:spMk id="2" creationId="{00000000-0000-0000-0000-000000000000}"/>
          </ac:spMkLst>
        </pc:spChg>
      </pc:sldChg>
      <pc:sldChg chg="modSp mod">
        <pc:chgData name="Ruhama Y. Mekonnen" userId="f55263af839ded1e" providerId="LiveId" clId="{5A8E9F9C-59A7-4A83-9D39-F3F10297DD2D}" dt="2026-01-31T07:22:22.041" v="9" actId="27636"/>
        <pc:sldMkLst>
          <pc:docMk/>
          <pc:sldMk cId="0" sldId="266"/>
        </pc:sldMkLst>
        <pc:spChg chg="mod">
          <ac:chgData name="Ruhama Y. Mekonnen" userId="f55263af839ded1e" providerId="LiveId" clId="{5A8E9F9C-59A7-4A83-9D39-F3F10297DD2D}" dt="2026-01-31T07:22:22.041" v="9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Ruhama Y. Mekonnen" userId="f55263af839ded1e" providerId="LiveId" clId="{5A8E9F9C-59A7-4A83-9D39-F3F10297DD2D}" dt="2026-01-31T07:21:50.172" v="0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Ruhama Y. Mekonnen" userId="f55263af839ded1e" providerId="LiveId" clId="{5A8E9F9C-59A7-4A83-9D39-F3F10297DD2D}" dt="2026-01-31T07:22:22.045" v="10" actId="27636"/>
        <pc:sldMkLst>
          <pc:docMk/>
          <pc:sldMk cId="0" sldId="267"/>
        </pc:sldMkLst>
        <pc:spChg chg="mod">
          <ac:chgData name="Ruhama Y. Mekonnen" userId="f55263af839ded1e" providerId="LiveId" clId="{5A8E9F9C-59A7-4A83-9D39-F3F10297DD2D}" dt="2026-01-31T07:22:22.045" v="10" actId="27636"/>
          <ac:spMkLst>
            <pc:docMk/>
            <pc:sldMk cId="0" sldId="267"/>
            <ac:spMk id="2" creationId="{00000000-0000-0000-0000-000000000000}"/>
          </ac:spMkLst>
        </pc:spChg>
      </pc:sldChg>
      <pc:sldChg chg="modSp mod">
        <pc:chgData name="Ruhama Y. Mekonnen" userId="f55263af839ded1e" providerId="LiveId" clId="{5A8E9F9C-59A7-4A83-9D39-F3F10297DD2D}" dt="2026-01-31T07:52:52.585" v="124" actId="5793"/>
        <pc:sldMkLst>
          <pc:docMk/>
          <pc:sldMk cId="0" sldId="268"/>
        </pc:sldMkLst>
        <pc:spChg chg="mod">
          <ac:chgData name="Ruhama Y. Mekonnen" userId="f55263af839ded1e" providerId="LiveId" clId="{5A8E9F9C-59A7-4A83-9D39-F3F10297DD2D}" dt="2026-01-31T07:22:22.054" v="11" actId="27636"/>
          <ac:spMkLst>
            <pc:docMk/>
            <pc:sldMk cId="0" sldId="268"/>
            <ac:spMk id="2" creationId="{00000000-0000-0000-0000-000000000000}"/>
          </ac:spMkLst>
        </pc:spChg>
        <pc:spChg chg="mod">
          <ac:chgData name="Ruhama Y. Mekonnen" userId="f55263af839ded1e" providerId="LiveId" clId="{5A8E9F9C-59A7-4A83-9D39-F3F10297DD2D}" dt="2026-01-31T07:52:52.585" v="124" actId="5793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Ruhama Y. Mekonnen" userId="f55263af839ded1e" providerId="LiveId" clId="{5A8E9F9C-59A7-4A83-9D39-F3F10297DD2D}" dt="2026-01-31T07:22:22.065" v="13" actId="27636"/>
        <pc:sldMkLst>
          <pc:docMk/>
          <pc:sldMk cId="0" sldId="269"/>
        </pc:sldMkLst>
        <pc:spChg chg="mod">
          <ac:chgData name="Ruhama Y. Mekonnen" userId="f55263af839ded1e" providerId="LiveId" clId="{5A8E9F9C-59A7-4A83-9D39-F3F10297DD2D}" dt="2026-01-31T07:22:22.065" v="13" actId="27636"/>
          <ac:spMkLst>
            <pc:docMk/>
            <pc:sldMk cId="0" sldId="269"/>
            <ac:spMk id="2" creationId="{00000000-0000-0000-0000-000000000000}"/>
          </ac:spMkLst>
        </pc:spChg>
      </pc:sldChg>
      <pc:sldChg chg="modSp new mod">
        <pc:chgData name="Ruhama Y. Mekonnen" userId="f55263af839ded1e" providerId="LiveId" clId="{5A8E9F9C-59A7-4A83-9D39-F3F10297DD2D}" dt="2026-01-31T07:59:57.557" v="160" actId="20577"/>
        <pc:sldMkLst>
          <pc:docMk/>
          <pc:sldMk cId="1679560600" sldId="273"/>
        </pc:sldMkLst>
        <pc:spChg chg="mod">
          <ac:chgData name="Ruhama Y. Mekonnen" userId="f55263af839ded1e" providerId="LiveId" clId="{5A8E9F9C-59A7-4A83-9D39-F3F10297DD2D}" dt="2026-01-31T07:59:26.452" v="150" actId="27636"/>
          <ac:spMkLst>
            <pc:docMk/>
            <pc:sldMk cId="1679560600" sldId="273"/>
            <ac:spMk id="2" creationId="{FB926E3D-BF51-747F-6830-1FD9C5E494A0}"/>
          </ac:spMkLst>
        </pc:spChg>
        <pc:spChg chg="mod">
          <ac:chgData name="Ruhama Y. Mekonnen" userId="f55263af839ded1e" providerId="LiveId" clId="{5A8E9F9C-59A7-4A83-9D39-F3F10297DD2D}" dt="2026-01-31T07:59:57.557" v="160" actId="20577"/>
          <ac:spMkLst>
            <pc:docMk/>
            <pc:sldMk cId="1679560600" sldId="273"/>
            <ac:spMk id="3" creationId="{932D8350-9F38-EB1C-5065-E6963A813F6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Summarization for Research Papers: Extracting Key Information Using NLP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rPr dirty="0"/>
              <a:t>End-to-End Pipeline </a:t>
            </a:r>
            <a:r>
              <a:rPr lang="en-US" dirty="0"/>
              <a:t>of our Text Summarization for Research </a:t>
            </a:r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Multi-source ingestion (</a:t>
            </a:r>
            <a:r>
              <a:rPr lang="en-US" dirty="0" err="1"/>
              <a:t>arXiv</a:t>
            </a:r>
            <a:r>
              <a:rPr lang="en-US" dirty="0"/>
              <a:t>, PDF, Text)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Section-aware intelligent preprocessing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Hybrid extractive-abstractive summarization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Semantic analysis with </a:t>
            </a:r>
            <a:r>
              <a:rPr dirty="0" err="1"/>
              <a:t>KeyBERT</a:t>
            </a:r>
            <a:r>
              <a:rPr dirty="0"/>
              <a:t> + </a:t>
            </a:r>
            <a:r>
              <a:rPr dirty="0" err="1"/>
              <a:t>Ollama</a:t>
            </a:r>
            <a:r>
              <a:rPr dirty="0"/>
              <a:t> LLM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Interactive RAG-based Q&amp;A system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ROUGE-based quantitative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Complete Summarization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rPr dirty="0"/>
              <a:t>1. INGESTION → Fetch from </a:t>
            </a:r>
            <a:r>
              <a:rPr dirty="0" err="1"/>
              <a:t>arXiv</a:t>
            </a:r>
            <a:r>
              <a:rPr dirty="0"/>
              <a:t> API or extract from PDF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2. CLEANING → Remove hyphenation, references, normalize text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3. SECTION EXTRACTION → Identify Intro/Methods/Results/Conclusion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4. FOCUS BUILDING → Prioritize Abstract → Conclusion → Results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5. CHUNKING → Split into 3000-char overlapping segments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6. SUMMARIZATION → Extract key sentences + Abstractive generation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7. POST-PROCESSING → Generate bullets, export to DOCX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Multi-Source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rPr dirty="0"/>
              <a:t>Three ingestion pathways implemented: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 err="1"/>
              <a:t>arXiv</a:t>
            </a:r>
            <a:r>
              <a:rPr dirty="0"/>
              <a:t> API: Direct fetch via paper ID with metadata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PDF Upload: </a:t>
            </a:r>
            <a:r>
              <a:rPr dirty="0" err="1"/>
              <a:t>pdfplumber</a:t>
            </a:r>
            <a:r>
              <a:rPr dirty="0"/>
              <a:t> → </a:t>
            </a:r>
            <a:r>
              <a:rPr dirty="0" err="1"/>
              <a:t>pypdf</a:t>
            </a:r>
            <a:r>
              <a:rPr dirty="0"/>
              <a:t> → </a:t>
            </a:r>
            <a:r>
              <a:rPr dirty="0" err="1"/>
              <a:t>pdftotext</a:t>
            </a:r>
            <a:r>
              <a:rPr dirty="0"/>
              <a:t> fallback chain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Text Files: Direct UTF-8 ingestion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Why multiple methods?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Maximizes compatibility across file formats</a:t>
            </a:r>
            <a:endParaRPr lang="en-US" dirty="0"/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Ensures robustness when one parser fails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Intelligent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rPr dirty="0"/>
              <a:t>Text Cleaning (Regex-based):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Remove PDF artifacts (hyphenation: 'process-</a:t>
            </a:r>
            <a:r>
              <a:rPr dirty="0" err="1"/>
              <a:t>ing</a:t>
            </a:r>
            <a:r>
              <a:rPr dirty="0"/>
              <a:t>' → 'processing')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Strip references section (last 20% heuristic search)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Normalize whitespace and flatten structure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Section-Aware Extraction: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Regex patterns identify Abstract/Intro/Methods/Results/Conclusion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Build focus text prioritizing high-signal sections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Methods limited to 2000 chars (avoid equation overload)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Chunking for Long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rPr dirty="0"/>
              <a:t>Challenge: Papers often exceed 10,000 tokens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Solution: Sliding window chunking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Chunk size: 3000 characters (~750 tokens)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Overlap: 200 characters (preserve context continuity)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Smart breaking at word boundaries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Why not process full text?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Even LED has practical memory limits at inference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Chunking enables parallel 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Model 1: Extractive Summarization (TF-IDF)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rPr dirty="0"/>
              <a:t>Method: Sentence ranking via T</a:t>
            </a:r>
            <a:r>
              <a:rPr lang="en-US" dirty="0"/>
              <a:t>F-IDF </a:t>
            </a:r>
            <a:r>
              <a:rPr dirty="0"/>
              <a:t>Vectorizer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Tokenize text into sentences (NLTK)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Compute TF-IDF scores for each sentence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Rank by sum of term weights, select top-N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Why TF-IDF vs BERT embeddings?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100x faster (no GPU required)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Interpretable scores (explainab</a:t>
            </a:r>
            <a:r>
              <a:rPr lang="en-US" dirty="0"/>
              <a:t>le</a:t>
            </a:r>
            <a:r>
              <a:rPr dirty="0"/>
              <a:t>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Sufficient for identifying </a:t>
            </a:r>
            <a:r>
              <a:rPr lang="en-US" dirty="0"/>
              <a:t>important</a:t>
            </a:r>
            <a:r>
              <a:rPr dirty="0"/>
              <a:t> sentences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Model 2: Abstractive Summarization (LED)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rPr dirty="0"/>
              <a:t>Model: </a:t>
            </a:r>
            <a:r>
              <a:rPr dirty="0" err="1"/>
              <a:t>Longformer</a:t>
            </a:r>
            <a:r>
              <a:rPr dirty="0"/>
              <a:t> Encoder-Decoder</a:t>
            </a:r>
            <a:endParaRPr lang="en-US" dirty="0"/>
          </a:p>
          <a:p>
            <a:pPr lvl="1">
              <a:spcAft>
                <a:spcPts val="800"/>
              </a:spcAft>
              <a:defRPr sz="1800"/>
            </a:pPr>
            <a:r>
              <a:rPr lang="en-US" dirty="0"/>
              <a:t>Transformer with sparse attention (global + local)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Pre-trained on </a:t>
            </a:r>
            <a:r>
              <a:rPr dirty="0" err="1"/>
              <a:t>arXiv</a:t>
            </a:r>
            <a:r>
              <a:rPr dirty="0"/>
              <a:t> + PubMed scientific papers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Context window: 16,384 tokens (~4x longer than BERT)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Why LED specifically?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Designed for long documents (attention is O(</a:t>
            </a:r>
            <a:r>
              <a:rPr dirty="0" err="1"/>
              <a:t>n</a:t>
            </a:r>
            <a:r>
              <a:rPr lang="en-US" dirty="0" err="1"/>
              <a:t>w</a:t>
            </a:r>
            <a:r>
              <a:rPr dirty="0"/>
              <a:t>) not O(n²))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Domain-specific pre-training on scientific text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Generates fluent, coherent summaries (not just extraction)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Fallback: </a:t>
            </a:r>
            <a:r>
              <a:rPr dirty="0" err="1"/>
              <a:t>DistilBART</a:t>
            </a:r>
            <a:r>
              <a:rPr dirty="0"/>
              <a:t>-CNN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rPr dirty="0"/>
              <a:t>Model: </a:t>
            </a:r>
            <a:r>
              <a:rPr dirty="0" err="1"/>
              <a:t>sshleifer</a:t>
            </a:r>
            <a:r>
              <a:rPr dirty="0"/>
              <a:t>/distilbart-cnn-12-6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Distilled BART model (smaller, faster)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Trained on CNN/</a:t>
            </a:r>
            <a:r>
              <a:rPr dirty="0" err="1"/>
              <a:t>DailyMail</a:t>
            </a:r>
            <a:r>
              <a:rPr dirty="0"/>
              <a:t> news dataset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When to use </a:t>
            </a:r>
            <a:r>
              <a:rPr dirty="0" err="1"/>
              <a:t>DistilBART</a:t>
            </a:r>
            <a:r>
              <a:rPr dirty="0"/>
              <a:t> instead of LED?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Papers &lt; 1024 tokens (short abstracts)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Limited GPU memory (LED requires ~6GB, </a:t>
            </a:r>
            <a:r>
              <a:rPr dirty="0" err="1"/>
              <a:t>DistilBART</a:t>
            </a:r>
            <a:r>
              <a:rPr dirty="0"/>
              <a:t> ~2GB)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Faster inference needed (3x speedup)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Trade-off: Less context, more generic (news vs science)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Mode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Problem: LED is slow for very long papers (10k+ tokens)</a:t>
            </a: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>
              <a:spcAft>
                <a:spcPts val="800"/>
              </a:spcAft>
              <a:defRPr sz="2000"/>
            </a:pPr>
            <a:r>
              <a:t>Solution: Two-stage hybrid pipeline</a:t>
            </a:r>
          </a:p>
          <a:p>
            <a:pPr>
              <a:spcAft>
                <a:spcPts val="800"/>
              </a:spcAft>
              <a:defRPr sz="2000"/>
            </a:pPr>
            <a:r>
              <a:t>1. Extractive pre-filtering (TF-IDF) → Select top 50% sentences</a:t>
            </a:r>
          </a:p>
          <a:p>
            <a:pPr>
              <a:spcAft>
                <a:spcPts val="800"/>
              </a:spcAft>
              <a:defRPr sz="2000"/>
            </a:pPr>
            <a:r>
              <a:t>2. Abstractive refinement (LED) → Generate from filtered text</a:t>
            </a: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>
              <a:spcAft>
                <a:spcPts val="800"/>
              </a:spcAft>
              <a:defRPr sz="2000"/>
            </a:pPr>
            <a:r>
              <a:t>Benefits:</a:t>
            </a:r>
          </a:p>
          <a:p>
            <a:pPr lvl="1">
              <a:spcAft>
                <a:spcPts val="800"/>
              </a:spcAft>
              <a:defRPr sz="1800"/>
            </a:pPr>
            <a:r>
              <a:t>50% faster processing time</a:t>
            </a:r>
          </a:p>
          <a:p>
            <a:pPr lvl="1">
              <a:spcAft>
                <a:spcPts val="800"/>
              </a:spcAft>
              <a:defRPr sz="1800"/>
            </a:pPr>
            <a:r>
              <a:t>Maintains global context (extractive sees full text)</a:t>
            </a:r>
          </a:p>
          <a:p>
            <a:pPr lvl="1">
              <a:spcAft>
                <a:spcPts val="800"/>
              </a:spcAft>
              <a:defRPr sz="1800"/>
            </a:pPr>
            <a:r>
              <a:t>Produces fluent output (abstractive final pass)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Model Selection: Why Not Alternatives?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rPr dirty="0"/>
              <a:t>Why not GPT-4 / ChatGPT?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No data leaves local machine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Cost: Zero API fees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Reproducibility: Deterministic outputs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Why not T5 or PEGASUS?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T5: Generic pre-training (not scientific domain)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PEGASUS: 512 token limit (same as BERT)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LED: Explicitly designed for long scientific docs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Semantic Insights: KeyBERT + Ollama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Component 1: KeyBERT (Keyword Extraction)</a:t>
            </a:r>
          </a:p>
          <a:p>
            <a:pPr lvl="1">
              <a:spcAft>
                <a:spcPts val="800"/>
              </a:spcAft>
              <a:defRPr sz="1800"/>
            </a:pPr>
            <a:r>
              <a:t>Uses sentence-transformers (all-MiniLM-L6-v2)</a:t>
            </a:r>
          </a:p>
          <a:p>
            <a:pPr lvl="1">
              <a:spcAft>
                <a:spcPts val="800"/>
              </a:spcAft>
              <a:defRPr sz="1800"/>
            </a:pPr>
            <a:r>
              <a:t>Extracts top 10 statistically significant keywords</a:t>
            </a: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>
              <a:spcAft>
                <a:spcPts val="800"/>
              </a:spcAft>
              <a:defRPr sz="2000"/>
            </a:pPr>
            <a:r>
              <a:t>Component 2: Ollama LLM (llama3.2)</a:t>
            </a:r>
          </a:p>
          <a:p>
            <a:pPr lvl="1">
              <a:spcAft>
                <a:spcPts val="800"/>
              </a:spcAft>
              <a:defRPr sz="1800"/>
            </a:pPr>
            <a:r>
              <a:t>Generates natural language analysis from keywords</a:t>
            </a:r>
          </a:p>
          <a:p>
            <a:pPr lvl="1">
              <a:spcAft>
                <a:spcPts val="800"/>
              </a:spcAft>
              <a:defRPr sz="1800"/>
            </a:pPr>
            <a:r>
              <a:t>Runs locally via Ollama REST API</a:t>
            </a:r>
          </a:p>
          <a:p>
            <a:pPr lvl="1">
              <a:spcAft>
                <a:spcPts val="800"/>
              </a:spcAft>
              <a:defRPr sz="1800"/>
            </a:pPr>
            <a:r>
              <a:t>Fallback to 'keywords only' if Ollama offline</a:t>
            </a: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>
              <a:spcAft>
                <a:spcPts val="800"/>
              </a:spcAft>
              <a:defRPr sz="2000"/>
            </a:pPr>
            <a:r>
              <a:t>Why this combination? Fast extraction + contextual understanding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Interactive Q&amp;A: RAG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>
              <a:spcAft>
                <a:spcPts val="800"/>
              </a:spcAft>
              <a:defRPr sz="2000"/>
            </a:pPr>
            <a:r>
              <a:rPr dirty="0"/>
              <a:t>Retrieval-Augmented Generation for paper chat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 marL="0" indent="0">
              <a:spcAft>
                <a:spcPts val="800"/>
              </a:spcAft>
              <a:buNone/>
              <a:defRPr sz="2000"/>
            </a:pPr>
            <a:r>
              <a:rPr dirty="0"/>
              <a:t>Pipeline: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1. Embed all sentences (</a:t>
            </a:r>
            <a:r>
              <a:rPr dirty="0" err="1"/>
              <a:t>SentenceTransformer</a:t>
            </a:r>
            <a:r>
              <a:rPr dirty="0"/>
              <a:t>: all-MiniLM-L6-v2)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2. Embed user question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3. Cosine similarity search → retrieve top-5 sentences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4. Pass context + question to </a:t>
            </a:r>
            <a:r>
              <a:rPr dirty="0" err="1"/>
              <a:t>Ollama</a:t>
            </a:r>
            <a:r>
              <a:rPr dirty="0"/>
              <a:t> (llama3.2)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5. Fallback to </a:t>
            </a:r>
            <a:r>
              <a:rPr dirty="0" err="1"/>
              <a:t>DistilBERT-SQuAD</a:t>
            </a:r>
            <a:r>
              <a:rPr dirty="0"/>
              <a:t> if </a:t>
            </a:r>
            <a:r>
              <a:rPr dirty="0" err="1"/>
              <a:t>Ollama</a:t>
            </a:r>
            <a:r>
              <a:rPr dirty="0"/>
              <a:t> unavailable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Why this architecture? Local-first, privacy-preserving Q&amp;A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Quantitative Evaluation: ROUGE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ROUGE (Recall-Oriented Understudy for Gisting Evaluation)</a:t>
            </a:r>
          </a:p>
          <a:p>
            <a:pPr lvl="1">
              <a:spcAft>
                <a:spcPts val="800"/>
              </a:spcAft>
              <a:defRPr sz="1800"/>
            </a:pPr>
            <a:r>
              <a:t>ROUGE-1: Unigram overlap (keyword coverage)</a:t>
            </a:r>
          </a:p>
          <a:p>
            <a:pPr lvl="1">
              <a:spcAft>
                <a:spcPts val="800"/>
              </a:spcAft>
              <a:defRPr sz="1800"/>
            </a:pPr>
            <a:r>
              <a:t>ROUGE-2: Bigram overlap (phrase preservation)</a:t>
            </a:r>
          </a:p>
          <a:p>
            <a:pPr lvl="1">
              <a:spcAft>
                <a:spcPts val="800"/>
              </a:spcAft>
              <a:defRPr sz="1800"/>
            </a:pPr>
            <a:r>
              <a:t>ROUGE-L: Longest common subsequence (structure similarity)</a:t>
            </a: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>
              <a:spcAft>
                <a:spcPts val="800"/>
              </a:spcAft>
              <a:defRPr sz="2000"/>
            </a:pPr>
            <a:r>
              <a:t>Benchmark: Compare generated summary vs. author's abstract</a:t>
            </a: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>
              <a:spcAft>
                <a:spcPts val="800"/>
              </a:spcAft>
              <a:defRPr sz="2000"/>
            </a:pPr>
            <a:r>
              <a:t>Why ROUGE? Industry-standard for summarization evaluation</a:t>
            </a:r>
          </a:p>
          <a:p>
            <a:pPr>
              <a:spcAft>
                <a:spcPts val="800"/>
              </a:spcAft>
              <a:defRPr sz="2000"/>
            </a:pPr>
            <a:r>
              <a:t>Used in research papers (e.g., BART, PEGASUS, LED validation)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Ingestion: pdfplumber, pypdf, BeautifulSoup, requests</a:t>
            </a:r>
          </a:p>
          <a:p>
            <a:pPr>
              <a:spcAft>
                <a:spcPts val="800"/>
              </a:spcAft>
              <a:defRPr sz="2000"/>
            </a:pPr>
            <a:r>
              <a:t>NLP Processing: NLTK (tokenization), regex (cleaning)</a:t>
            </a:r>
          </a:p>
          <a:p>
            <a:pPr>
              <a:spcAft>
                <a:spcPts val="800"/>
              </a:spcAft>
              <a:defRPr sz="2000"/>
            </a:pPr>
            <a:r>
              <a:t>Extractive: scikit-learn (TF-IDF)</a:t>
            </a:r>
          </a:p>
          <a:p>
            <a:pPr>
              <a:spcAft>
                <a:spcPts val="800"/>
              </a:spcAft>
              <a:defRPr sz="2000"/>
            </a:pPr>
            <a:r>
              <a:t>Abstractive: HuggingFace Transformers (LED, DistilBART)</a:t>
            </a:r>
          </a:p>
          <a:p>
            <a:pPr>
              <a:spcAft>
                <a:spcPts val="800"/>
              </a:spcAft>
              <a:defRPr sz="2000"/>
            </a:pPr>
            <a:r>
              <a:t>Embeddings: sentence-transformers (MiniLM)</a:t>
            </a:r>
          </a:p>
          <a:p>
            <a:pPr>
              <a:spcAft>
                <a:spcPts val="800"/>
              </a:spcAft>
              <a:defRPr sz="2000"/>
            </a:pPr>
            <a:r>
              <a:t>LLM: Ollama (llama3.2 via REST API)</a:t>
            </a:r>
          </a:p>
          <a:p>
            <a:pPr>
              <a:spcAft>
                <a:spcPts val="800"/>
              </a:spcAft>
              <a:defRPr sz="2000"/>
            </a:pPr>
            <a:r>
              <a:t>Evaluation: rouge-score</a:t>
            </a:r>
          </a:p>
          <a:p>
            <a:pPr>
              <a:spcAft>
                <a:spcPts val="800"/>
              </a:spcAft>
              <a:defRPr sz="2000"/>
            </a:pPr>
            <a:r>
              <a:t>UI: Streamlit with custom CSS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26E3D-BF51-747F-6830-1FD9C5E49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Technical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D8350-9F38-EB1C-5065-E6963A813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 </a:t>
            </a:r>
            <a:r>
              <a:rPr lang="en-US" b="1" dirty="0"/>
              <a:t>No OCR support</a:t>
            </a:r>
            <a:r>
              <a:rPr lang="en-US" dirty="0"/>
              <a:t> - Cannot process scanned/image-based PDFs (~5-10% failure rate)</a:t>
            </a:r>
          </a:p>
          <a:p>
            <a:r>
              <a:rPr lang="en-US" dirty="0"/>
              <a:t> </a:t>
            </a:r>
            <a:r>
              <a:rPr lang="en-US" b="1" dirty="0"/>
              <a:t>Mathematical equations poorly preserved</a:t>
            </a:r>
            <a:r>
              <a:rPr lang="en-US" dirty="0"/>
              <a:t> - LaTeX formulas become garbled text</a:t>
            </a:r>
          </a:p>
          <a:p>
            <a:r>
              <a:rPr lang="en-US" dirty="0"/>
              <a:t> </a:t>
            </a:r>
            <a:r>
              <a:rPr lang="en-US" b="1" dirty="0"/>
              <a:t>No figure/table extraction</a:t>
            </a:r>
            <a:r>
              <a:rPr lang="en-US" dirty="0"/>
              <a:t> - Loses critical visual information (graphs, diagrams, data tables)</a:t>
            </a:r>
          </a:p>
          <a:p>
            <a:r>
              <a:rPr lang="en-US" dirty="0"/>
              <a:t> </a:t>
            </a:r>
            <a:r>
              <a:rPr lang="en-US" b="1" dirty="0"/>
              <a:t>Context window limits</a:t>
            </a:r>
            <a:r>
              <a:rPr lang="en-US" dirty="0"/>
              <a:t> - Even LED (16K tokens) struggles with 50+ page papers</a:t>
            </a:r>
          </a:p>
          <a:p>
            <a:r>
              <a:rPr lang="en-US" dirty="0"/>
              <a:t> </a:t>
            </a:r>
            <a:r>
              <a:rPr lang="en-US" b="1" dirty="0"/>
              <a:t>High GPU memory requirement</a:t>
            </a:r>
            <a:r>
              <a:rPr lang="en-US" dirty="0"/>
              <a:t> - LED needs VRAM, poor performance on CPU-only machines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560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Impact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rPr dirty="0"/>
              <a:t>Who benefits from this system?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Graduate students reviewing 100+ papers for literature reviews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R&amp;D teams in pharma/biotech (confidential documents)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Legal professionals analyzing patent documents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Key advantages: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10x faster than manual reading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Privacy-preserving (no cloud APIs)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Quantitatively validated (ROUGE scores)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Model improvements:</a:t>
            </a:r>
          </a:p>
          <a:p>
            <a:pPr lvl="1">
              <a:spcAft>
                <a:spcPts val="800"/>
              </a:spcAft>
              <a:defRPr sz="1800"/>
            </a:pPr>
            <a:r>
              <a:t>Fine-tune LED on domain-specific corpora (e.g., biomedical)</a:t>
            </a:r>
          </a:p>
          <a:p>
            <a:pPr lvl="1">
              <a:spcAft>
                <a:spcPts val="800"/>
              </a:spcAft>
              <a:defRPr sz="1800"/>
            </a:pPr>
            <a:r>
              <a:t>Experiment with newer models (LongT5, LED-large)</a:t>
            </a:r>
          </a:p>
          <a:p>
            <a:pPr>
              <a:spcAft>
                <a:spcPts val="800"/>
              </a:spcAft>
              <a:defRPr sz="2000"/>
            </a:pPr>
            <a:endParaRPr/>
          </a:p>
          <a:p>
            <a:pPr>
              <a:spcAft>
                <a:spcPts val="800"/>
              </a:spcAft>
              <a:defRPr sz="2000"/>
            </a:pPr>
            <a:r>
              <a:t>Feature additions:</a:t>
            </a:r>
          </a:p>
          <a:p>
            <a:pPr lvl="1">
              <a:spcAft>
                <a:spcPts val="800"/>
              </a:spcAft>
              <a:defRPr sz="1800"/>
            </a:pPr>
            <a:r>
              <a:t>Batch processing (100+ PDFs → CSV matrix)</a:t>
            </a:r>
          </a:p>
          <a:p>
            <a:pPr lvl="1">
              <a:spcAft>
                <a:spcPts val="800"/>
              </a:spcAft>
              <a:defRPr sz="1800"/>
            </a:pPr>
            <a:r>
              <a:t>Citation graph visualization</a:t>
            </a:r>
          </a:p>
          <a:p>
            <a:pPr lvl="1">
              <a:spcAft>
                <a:spcPts val="800"/>
              </a:spcAft>
              <a:defRPr sz="1800"/>
            </a:pPr>
            <a:r>
              <a:t>Multi-document summarization for literature reviews</a:t>
            </a:r>
          </a:p>
          <a:p>
            <a:pPr lvl="1">
              <a:spcAft>
                <a:spcPts val="800"/>
              </a:spcAft>
              <a:defRPr sz="1800"/>
            </a:pPr>
            <a:r>
              <a:t>Figure/table extraction and captioning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1091</Words>
  <Application>Microsoft Office PowerPoint</Application>
  <PresentationFormat>On-screen Show (4:3)</PresentationFormat>
  <Paragraphs>166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Text Summarization for Research Papers: Extracting Key Information Using NLP</vt:lpstr>
      <vt:lpstr>System Architecture Overview</vt:lpstr>
      <vt:lpstr>Complete Summarization Process</vt:lpstr>
      <vt:lpstr>Multi-Source Ingestion</vt:lpstr>
      <vt:lpstr>Intelligent Preprocessing</vt:lpstr>
      <vt:lpstr>Chunking for Long Context</vt:lpstr>
      <vt:lpstr>Model 1: Extractive Summarization (TF-IDF)</vt:lpstr>
      <vt:lpstr>Model 2: Abstractive Summarization (LED)</vt:lpstr>
      <vt:lpstr>Fallback: DistilBART-CNN</vt:lpstr>
      <vt:lpstr>Hybrid Mode</vt:lpstr>
      <vt:lpstr>Model Selection: Why Not Alternatives?</vt:lpstr>
      <vt:lpstr>Semantic Insights: KeyBERT + Ollama</vt:lpstr>
      <vt:lpstr>Interactive Q&amp;A: RAG Implementation</vt:lpstr>
      <vt:lpstr>Quantitative Evaluation: ROUGE Metrics</vt:lpstr>
      <vt:lpstr>Complete Technical Stack</vt:lpstr>
      <vt:lpstr>Technical Limitations</vt:lpstr>
      <vt:lpstr>Real-World Impact &amp; Use Cases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Ruhama Y. Mekonnen</cp:lastModifiedBy>
  <cp:revision>1</cp:revision>
  <dcterms:created xsi:type="dcterms:W3CDTF">2013-01-27T09:14:16Z</dcterms:created>
  <dcterms:modified xsi:type="dcterms:W3CDTF">2026-01-31T08:13:16Z</dcterms:modified>
  <cp:category/>
</cp:coreProperties>
</file>